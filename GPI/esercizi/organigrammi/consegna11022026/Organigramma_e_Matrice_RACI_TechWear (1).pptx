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60" r:id="rId6"/>
    <p:sldId id="264" r:id="rId7"/>
    <p:sldId id="261" r:id="rId8"/>
    <p:sldId id="263" r:id="rId9"/>
  </p:sldIdLst>
  <p:sldSz cx="9144000" cy="6858000" type="screen4x3"/>
  <p:notesSz cx="7559675" cy="106918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53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38391EE-CEAA-4FFC-9834-F1189165103D}" type="slidenum">
              <a:rPr/>
              <a:pPr/>
              <a:t>‹N›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it-IT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078B905-9B1A-44A8-BB4D-A8CADBD8B525}" type="slidenum">
              <a:rPr/>
              <a:pPr/>
              <a:t>‹N›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589504D-03E4-4B82-9AD9-DB535C2B8F51}" type="slidenum">
              <a:rPr/>
              <a:pPr/>
              <a:t>‹N›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E552023-1BE3-4E5E-ACAB-7244B2E35A96}" type="slidenum">
              <a:rPr/>
              <a:pPr/>
              <a:t>‹N›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9C465D8-1A0C-4145-9570-E79614419764}" type="slidenum">
              <a:rPr/>
              <a:pPr/>
              <a:t>‹N›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it-IT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FF96325-4D2E-4DF6-8C82-A25E09B53A8F}" type="slidenum">
              <a:rPr/>
              <a:pPr/>
              <a:t>‹N›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F10B05D-1066-48EA-BCB6-1EF4EE1ECECB}" type="slidenum">
              <a:rPr/>
              <a:pPr/>
              <a:t>‹N›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4738F5A-1DA4-448E-B3AF-A4C6F45CB610}" type="slidenum">
              <a:rPr/>
              <a:pPr/>
              <a:t>‹N›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DDDFD4A-2D05-4DA8-ABED-8CBA9D1381EB}" type="slidenum">
              <a:rPr/>
              <a:pPr/>
              <a:t>‹N›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BBAF341-2DB6-49B1-BD7E-ED60F1A9BCAB}" type="slidenum">
              <a:rPr/>
              <a:pPr/>
              <a:t>‹N›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8C0399E-E5B2-46A5-B736-FD54C87D7634}" type="slidenum">
              <a:rPr/>
              <a:pPr/>
              <a:t>‹N›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8748B91-CB5A-410F-9791-F4EB59F9385F}" type="slidenum">
              <a:rPr/>
              <a:pPr/>
              <a:t>‹N›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8E3BE45-A78E-4C17-95BB-434F18EE98E7}" type="slidenum">
              <a:rPr/>
              <a:pPr/>
              <a:t>‹N›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it-IT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BD11FB1-B16C-4AEE-82F4-76686079D184}" type="slidenum">
              <a:rPr/>
              <a:pPr/>
              <a:t>‹N›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8616125-50BD-4AC2-A757-2AD845586DEC}" type="slidenum">
              <a:rPr/>
              <a:pPr/>
              <a:t>‹N›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AE543D7-D899-456A-9231-60DB2D160590}" type="slidenum">
              <a:rPr/>
              <a:pPr/>
              <a:t>‹N›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1F59C8E-DD40-4E0F-AFD1-A07323DCCC99}" type="slidenum">
              <a:rPr/>
              <a:pPr/>
              <a:t>‹N›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it-IT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B53FEBD-F2BB-49CD-9C34-FCA3D428E94E}" type="slidenum">
              <a:rPr/>
              <a:pPr/>
              <a:t>‹N›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1F3B548-0F37-4C27-8740-3E04B2B77909}" type="slidenum">
              <a:rPr/>
              <a:pPr/>
              <a:t>‹N›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9972AF0-ADD1-4154-A9EF-AE8D0DA9CD80}" type="slidenum">
              <a:rPr/>
              <a:pPr/>
              <a:t>‹N›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2C83541-B26F-4A96-8AC6-F456BAC75499}" type="slidenum">
              <a:rPr/>
              <a:pPr/>
              <a:t>‹N›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6BD8BCE-E1D5-4EFD-8DD1-8EA57B000820}" type="slidenum">
              <a:rPr/>
              <a:pPr/>
              <a:t>‹N›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5FDD5F9-018D-44A3-A418-B604BB461D00}" type="slidenum">
              <a:rPr/>
              <a:pPr/>
              <a:t>‹N›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2847C3A-DDD1-44E9-A75E-355A1A77CD81}" type="slidenum">
              <a:rPr/>
              <a:pPr/>
              <a:t>‹N›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&lt;data/ora&gt;</a:t>
            </a:r>
            <a:endParaRPr lang="it-I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it-I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strike="noStrike" spc="-1">
                <a:solidFill>
                  <a:srgbClr val="000000"/>
                </a:solidFill>
                <a:latin typeface="Times New Roman"/>
              </a:rPr>
              <a:t>&lt;piè di pagina&gt;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3D74EC7-D1DC-4AD9-B3E9-125B5DCE1CB1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indent="0" algn="r">
                <a:lnSpc>
                  <a:spcPct val="100000"/>
                </a:lnSpc>
                <a:buNone/>
              </a:pPr>
              <a:t>‹N›</a:t>
            </a:fld>
            <a:endParaRPr lang="it-I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Fai clic per modificare il formato del testo della struttura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Secondo livello struttura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Terzo livello struttura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Quarto livello struttura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Quinto livello struttura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Sesto livello struttura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Settimo livello struttura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&lt;data/ora&gt;</a:t>
            </a:r>
            <a:endParaRPr lang="it-I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it-I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it-IT" sz="1400" b="0" strike="noStrike" spc="-1">
                <a:solidFill>
                  <a:srgbClr val="000000"/>
                </a:solidFill>
                <a:latin typeface="Times New Roman"/>
              </a:rPr>
              <a:t>&lt;piè di pagina&gt;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592905-8755-4E6B-90EB-E5058827CC17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indent="0" algn="r">
                <a:lnSpc>
                  <a:spcPct val="100000"/>
                </a:lnSpc>
                <a:buNone/>
              </a:pPr>
              <a:t>‹N›</a:t>
            </a:fld>
            <a:endParaRPr lang="it-I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Organigramma e Matrice RACI</a:t>
            </a:r>
          </a:p>
        </p:txBody>
      </p:sp>
      <p:sp>
        <p:nvSpPr>
          <p:cNvPr id="124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it-IT" sz="3200" b="0" strike="noStrike" spc="-1">
                <a:solidFill>
                  <a:srgbClr val="8B8B8B"/>
                </a:solidFill>
                <a:latin typeface="Calibri"/>
              </a:rPr>
              <a:t>Soluzione – TechWear S.p.A.</a:t>
            </a:r>
            <a:endParaRPr lang="it-IT" sz="3200" b="0" strike="noStrike" spc="-1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it-IT" sz="3200" b="0" strike="noStrike" spc="-1">
                <a:solidFill>
                  <a:srgbClr val="8B8B8B"/>
                </a:solidFill>
                <a:latin typeface="Calibri"/>
              </a:rPr>
              <a:t>Classe Quinta</a:t>
            </a:r>
            <a:endParaRPr lang="it-I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Contesto aziendale</a:t>
            </a: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TechWear S.p.A.: abbigliamento sportivo smart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Opera a livello europeo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Progettazione, produzione e vendita interne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Struttura organizzativa funzionale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Funzioni aziendali</a:t>
            </a: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Direzione Generale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Amministrazione e Finanza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Ricerca e Sviluppo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Produzione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Acquisti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Marketing e Vendite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Controllo Qualità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Progetto</a:t>
            </a: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Nuova linea di abbigliamento smart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Coinvolge tutte le funzioni aziendali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Gestito tramite matrice RACI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 idx="4294967295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400" b="0" strike="noStrike" spc="-1" dirty="0" err="1">
                <a:solidFill>
                  <a:srgbClr val="000000"/>
                </a:solidFill>
                <a:latin typeface="Calibri"/>
              </a:rPr>
              <a:t>Progetto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idx="4294967295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180000" lvl="0">
              <a:spcBef>
                <a:spcPts val="1200"/>
              </a:spcBef>
              <a:buFont typeface="Wingdings" pitchFamily="2" charset="2"/>
              <a:buChar char="§"/>
            </a:pPr>
            <a:r>
              <a:rPr lang="it-IT" sz="3200" b="1" dirty="0"/>
              <a:t>Analisi di mercato</a:t>
            </a:r>
            <a:endParaRPr lang="it-IT" sz="3200" dirty="0"/>
          </a:p>
          <a:p>
            <a:pPr marL="180000" lvl="0">
              <a:spcBef>
                <a:spcPts val="1200"/>
              </a:spcBef>
              <a:buFont typeface="Wingdings" pitchFamily="2" charset="2"/>
              <a:buChar char="§"/>
            </a:pPr>
            <a:r>
              <a:rPr lang="it-IT" sz="3200" b="1" dirty="0"/>
              <a:t>Progettazione del prodotto</a:t>
            </a:r>
            <a:endParaRPr lang="it-IT" sz="3200" dirty="0"/>
          </a:p>
          <a:p>
            <a:pPr marL="180000" lvl="0">
              <a:spcBef>
                <a:spcPts val="1200"/>
              </a:spcBef>
              <a:buFont typeface="Wingdings" pitchFamily="2" charset="2"/>
              <a:buChar char="§"/>
            </a:pPr>
            <a:r>
              <a:rPr lang="it-IT" sz="3200" b="1" dirty="0"/>
              <a:t>Approvazione del budget</a:t>
            </a:r>
            <a:endParaRPr lang="it-IT" sz="3200" dirty="0"/>
          </a:p>
          <a:p>
            <a:pPr marL="180000" lvl="0">
              <a:spcBef>
                <a:spcPts val="1200"/>
              </a:spcBef>
              <a:buFont typeface="Wingdings" pitchFamily="2" charset="2"/>
              <a:buChar char="§"/>
            </a:pPr>
            <a:r>
              <a:rPr lang="it-IT" sz="3200" b="1" dirty="0"/>
              <a:t>Acquisto materie prime</a:t>
            </a:r>
            <a:endParaRPr lang="it-IT" sz="3200" dirty="0"/>
          </a:p>
          <a:p>
            <a:pPr marL="180000" lvl="0">
              <a:spcBef>
                <a:spcPts val="1200"/>
              </a:spcBef>
              <a:buFont typeface="Wingdings" pitchFamily="2" charset="2"/>
              <a:buChar char="§"/>
            </a:pPr>
            <a:r>
              <a:rPr lang="it-IT" sz="3200" b="1" dirty="0"/>
              <a:t>Produzione dei capi</a:t>
            </a:r>
            <a:endParaRPr lang="it-IT" sz="3200" dirty="0"/>
          </a:p>
          <a:p>
            <a:pPr marL="180000" lvl="0">
              <a:spcBef>
                <a:spcPts val="1200"/>
              </a:spcBef>
              <a:buFont typeface="Wingdings" pitchFamily="2" charset="2"/>
              <a:buChar char="§"/>
            </a:pPr>
            <a:r>
              <a:rPr lang="it-IT" sz="3200" b="1" dirty="0"/>
              <a:t>Controllo qualità finale</a:t>
            </a:r>
            <a:endParaRPr lang="it-IT" sz="3200" dirty="0"/>
          </a:p>
          <a:p>
            <a:pPr marL="180000" lvl="0">
              <a:spcBef>
                <a:spcPts val="1200"/>
              </a:spcBef>
              <a:buFont typeface="Wingdings" pitchFamily="2" charset="2"/>
              <a:buChar char="§"/>
            </a:pPr>
            <a:r>
              <a:rPr lang="it-IT" sz="3200" b="1" dirty="0"/>
              <a:t>Lancio commerciale del prodotto</a:t>
            </a:r>
            <a:endParaRPr lang="it-IT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Matrice RACI</a:t>
            </a: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R – Responsible: chi svolge l’attività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A – Accountable: chi è responsabile finale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 – Consulted: chi fornisce supporto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I – Informed: chi viene informato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Una sola A per ogni attività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Perché usare la RACI</a:t>
            </a: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Chiarezza dei ruoli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Riduzione dei conflitti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Migliore coordinamento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Maggiore efficienza nei progetti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140</Words>
  <Application>LibreOffice/7.5.4.2$Windows_X86_64 LibreOffice_project/36ccfdc35048b057fd9854c757a8b67ec53977b6</Application>
  <PresentationFormat>Presentazione su schermo (4:3)</PresentationFormat>
  <Paragraphs>39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Titoli diapositive</vt:lpstr>
      </vt:variant>
      <vt:variant>
        <vt:i4>7</vt:i4>
      </vt:variant>
    </vt:vector>
  </HeadingPairs>
  <TitlesOfParts>
    <vt:vector size="9" baseType="lpstr">
      <vt:lpstr>Office Theme</vt:lpstr>
      <vt:lpstr>Office Theme</vt:lpstr>
      <vt:lpstr>Organigramma e Matrice RACI</vt:lpstr>
      <vt:lpstr>Contesto aziendale</vt:lpstr>
      <vt:lpstr>Funzioni aziendali</vt:lpstr>
      <vt:lpstr>Progetto</vt:lpstr>
      <vt:lpstr>Progetto</vt:lpstr>
      <vt:lpstr>Matrice RACI</vt:lpstr>
      <vt:lpstr>Perché usare la RACI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Organigramma e Matrice RACI</dc:title>
  <dc:subject/>
  <dc:creator/>
  <dc:description>generated using python-pptx</dc:description>
  <cp:lastModifiedBy>dpalumbo</cp:lastModifiedBy>
  <cp:revision>2</cp:revision>
  <dcterms:created xsi:type="dcterms:W3CDTF">2013-01-27T09:14:16Z</dcterms:created>
  <dcterms:modified xsi:type="dcterms:W3CDTF">2026-01-22T13:02:36Z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